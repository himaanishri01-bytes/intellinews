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Helvetica World" panose="020B0604020202020204" charset="-128"/>
      <p:regular r:id="rId7"/>
    </p:embeddedFont>
    <p:embeddedFont>
      <p:font typeface="Helvetica World Bold" panose="020B0604020202020204" charset="-128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7.sv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sv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sv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851107" y="6381521"/>
            <a:ext cx="8766403" cy="4470198"/>
          </a:xfrm>
          <a:custGeom>
            <a:avLst/>
            <a:gdLst/>
            <a:ahLst/>
            <a:cxnLst/>
            <a:rect l="l" t="t" r="r" b="b"/>
            <a:pathLst>
              <a:path w="8766403" h="4470198">
                <a:moveTo>
                  <a:pt x="0" y="0"/>
                </a:moveTo>
                <a:lnTo>
                  <a:pt x="8766403" y="0"/>
                </a:lnTo>
                <a:lnTo>
                  <a:pt x="8766403" y="4470198"/>
                </a:lnTo>
                <a:lnTo>
                  <a:pt x="0" y="447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96107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8621240"/>
            <a:ext cx="16230600" cy="0"/>
          </a:xfrm>
          <a:prstGeom prst="line">
            <a:avLst/>
          </a:prstGeom>
          <a:ln w="9525" cap="flat">
            <a:solidFill>
              <a:srgbClr val="C4E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 rot="5400000">
            <a:off x="10234309" y="0"/>
            <a:ext cx="7024991" cy="7024991"/>
          </a:xfrm>
          <a:custGeom>
            <a:avLst/>
            <a:gdLst/>
            <a:ahLst/>
            <a:cxnLst/>
            <a:rect l="l" t="t" r="r" b="b"/>
            <a:pathLst>
              <a:path w="7024991" h="7024991">
                <a:moveTo>
                  <a:pt x="0" y="0"/>
                </a:moveTo>
                <a:lnTo>
                  <a:pt x="7024991" y="0"/>
                </a:lnTo>
                <a:lnTo>
                  <a:pt x="7024991" y="7024991"/>
                </a:lnTo>
                <a:lnTo>
                  <a:pt x="0" y="7024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4700144"/>
            <a:ext cx="12352275" cy="1430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25"/>
              </a:lnSpc>
            </a:pPr>
            <a:r>
              <a:rPr lang="en-US" sz="11349" b="1" spc="-340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INTELLINEWS AI.</a:t>
            </a:r>
          </a:p>
        </p:txBody>
      </p:sp>
      <p:sp>
        <p:nvSpPr>
          <p:cNvPr id="6" name="Freeform 6"/>
          <p:cNvSpPr/>
          <p:nvPr/>
        </p:nvSpPr>
        <p:spPr>
          <a:xfrm>
            <a:off x="8528637" y="-2232985"/>
            <a:ext cx="10436335" cy="11053538"/>
          </a:xfrm>
          <a:custGeom>
            <a:avLst/>
            <a:gdLst/>
            <a:ahLst/>
            <a:cxnLst/>
            <a:rect l="l" t="t" r="r" b="b"/>
            <a:pathLst>
              <a:path w="10436335" h="11053538">
                <a:moveTo>
                  <a:pt x="0" y="0"/>
                </a:moveTo>
                <a:lnTo>
                  <a:pt x="10436335" y="0"/>
                </a:lnTo>
                <a:lnTo>
                  <a:pt x="10436335" y="11053538"/>
                </a:lnTo>
                <a:lnTo>
                  <a:pt x="0" y="110535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962025"/>
            <a:ext cx="4233207" cy="1057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2"/>
              </a:lnSpc>
              <a:spcBef>
                <a:spcPct val="0"/>
              </a:spcBef>
            </a:pPr>
            <a:r>
              <a:rPr lang="en-US" sz="3002" spc="-30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ASI-1 Powered Fake News Detection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763403"/>
            <a:ext cx="4233207" cy="93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2701" spc="-2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:</a:t>
            </a:r>
          </a:p>
          <a:p>
            <a:pPr marL="0" lvl="0" indent="0" algn="l">
              <a:lnSpc>
                <a:spcPts val="3782"/>
              </a:lnSpc>
              <a:spcBef>
                <a:spcPct val="0"/>
              </a:spcBef>
            </a:pPr>
            <a:r>
              <a:rPr lang="en-US" sz="2701" spc="-2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HIMAANI SHRI</a:t>
            </a:r>
          </a:p>
        </p:txBody>
      </p:sp>
      <p:sp>
        <p:nvSpPr>
          <p:cNvPr id="9" name="Freeform 9"/>
          <p:cNvSpPr/>
          <p:nvPr/>
        </p:nvSpPr>
        <p:spPr>
          <a:xfrm>
            <a:off x="16141859" y="6858506"/>
            <a:ext cx="1117441" cy="279360"/>
          </a:xfrm>
          <a:custGeom>
            <a:avLst/>
            <a:gdLst/>
            <a:ahLst/>
            <a:cxnLst/>
            <a:rect l="l" t="t" r="r" b="b"/>
            <a:pathLst>
              <a:path w="1117441" h="279360">
                <a:moveTo>
                  <a:pt x="0" y="0"/>
                </a:moveTo>
                <a:lnTo>
                  <a:pt x="1117441" y="0"/>
                </a:lnTo>
                <a:lnTo>
                  <a:pt x="1117441" y="279360"/>
                </a:lnTo>
                <a:lnTo>
                  <a:pt x="0" y="279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2364125" y="-891138"/>
            <a:ext cx="7024991" cy="7024991"/>
          </a:xfrm>
          <a:custGeom>
            <a:avLst/>
            <a:gdLst/>
            <a:ahLst/>
            <a:cxnLst/>
            <a:rect l="l" t="t" r="r" b="b"/>
            <a:pathLst>
              <a:path w="7024991" h="7024991">
                <a:moveTo>
                  <a:pt x="0" y="0"/>
                </a:moveTo>
                <a:lnTo>
                  <a:pt x="7024991" y="0"/>
                </a:lnTo>
                <a:lnTo>
                  <a:pt x="7024991" y="7024992"/>
                </a:lnTo>
                <a:lnTo>
                  <a:pt x="0" y="702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626752" y="1028700"/>
            <a:ext cx="3632548" cy="8229600"/>
          </a:xfrm>
          <a:custGeom>
            <a:avLst/>
            <a:gdLst/>
            <a:ahLst/>
            <a:cxnLst/>
            <a:rect l="l" t="t" r="r" b="b"/>
            <a:pathLst>
              <a:path w="3632548" h="8229600">
                <a:moveTo>
                  <a:pt x="3632548" y="0"/>
                </a:moveTo>
                <a:lnTo>
                  <a:pt x="0" y="0"/>
                </a:lnTo>
                <a:lnTo>
                  <a:pt x="0" y="8229600"/>
                </a:lnTo>
                <a:lnTo>
                  <a:pt x="3632548" y="8229600"/>
                </a:lnTo>
                <a:lnTo>
                  <a:pt x="3632548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962025"/>
            <a:ext cx="3111618" cy="55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9"/>
              </a:lnSpc>
              <a:spcBef>
                <a:spcPct val="0"/>
              </a:spcBef>
            </a:pPr>
            <a:r>
              <a:rPr lang="en-US" sz="3242" spc="-32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IntelliNews AI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16689" y="2545618"/>
            <a:ext cx="5654622" cy="1697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72"/>
              </a:lnSpc>
            </a:pPr>
            <a:r>
              <a:rPr lang="en-US" sz="7200" b="1" spc="-215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00081" y="4862926"/>
            <a:ext cx="7113597" cy="309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51"/>
              </a:lnSpc>
              <a:spcBef>
                <a:spcPct val="0"/>
              </a:spcBef>
            </a:pPr>
            <a:r>
              <a:rPr lang="en-US" sz="2751" b="1" spc="-27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Fake news spreads rapidly online, reaching millions before verification</a:t>
            </a:r>
          </a:p>
          <a:p>
            <a:pPr marL="0" lvl="0" indent="0" algn="l">
              <a:lnSpc>
                <a:spcPts val="3851"/>
              </a:lnSpc>
              <a:spcBef>
                <a:spcPct val="0"/>
              </a:spcBef>
            </a:pPr>
            <a:r>
              <a:rPr lang="en-US" sz="2751" b="1" spc="-27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Manual fact-checking is difficult and extremely time-consuming</a:t>
            </a:r>
          </a:p>
          <a:p>
            <a:pPr marL="0" lvl="0" indent="0" algn="l">
              <a:lnSpc>
                <a:spcPts val="3851"/>
              </a:lnSpc>
              <a:spcBef>
                <a:spcPct val="0"/>
              </a:spcBef>
            </a:pPr>
            <a:r>
              <a:rPr lang="en-US" sz="2751" b="1" spc="-27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Causes widespread misinformation, confusion, and erodes public trust</a:t>
            </a:r>
          </a:p>
        </p:txBody>
      </p:sp>
      <p:sp>
        <p:nvSpPr>
          <p:cNvPr id="7" name="Freeform 7"/>
          <p:cNvSpPr/>
          <p:nvPr/>
        </p:nvSpPr>
        <p:spPr>
          <a:xfrm rot="-5400000">
            <a:off x="-2713299" y="4548826"/>
            <a:ext cx="10387235" cy="5296699"/>
          </a:xfrm>
          <a:custGeom>
            <a:avLst/>
            <a:gdLst/>
            <a:ahLst/>
            <a:cxnLst/>
            <a:rect l="l" t="t" r="r" b="b"/>
            <a:pathLst>
              <a:path w="10387235" h="5296699">
                <a:moveTo>
                  <a:pt x="0" y="0"/>
                </a:moveTo>
                <a:lnTo>
                  <a:pt x="10387236" y="0"/>
                </a:lnTo>
                <a:lnTo>
                  <a:pt x="10387236" y="5296699"/>
                </a:lnTo>
                <a:lnTo>
                  <a:pt x="0" y="5296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96107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2621358"/>
            <a:ext cx="3482608" cy="8733813"/>
          </a:xfrm>
          <a:custGeom>
            <a:avLst/>
            <a:gdLst/>
            <a:ahLst/>
            <a:cxnLst/>
            <a:rect l="l" t="t" r="r" b="b"/>
            <a:pathLst>
              <a:path w="3482608" h="8733813">
                <a:moveTo>
                  <a:pt x="0" y="0"/>
                </a:moveTo>
                <a:lnTo>
                  <a:pt x="3482608" y="0"/>
                </a:lnTo>
                <a:lnTo>
                  <a:pt x="3482608" y="8733813"/>
                </a:lnTo>
                <a:lnTo>
                  <a:pt x="0" y="8733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16689" y="9091814"/>
            <a:ext cx="665943" cy="166486"/>
          </a:xfrm>
          <a:custGeom>
            <a:avLst/>
            <a:gdLst/>
            <a:ahLst/>
            <a:cxnLst/>
            <a:rect l="l" t="t" r="r" b="b"/>
            <a:pathLst>
              <a:path w="665943" h="166486">
                <a:moveTo>
                  <a:pt x="0" y="0"/>
                </a:moveTo>
                <a:lnTo>
                  <a:pt x="665943" y="0"/>
                </a:lnTo>
                <a:lnTo>
                  <a:pt x="665943" y="166486"/>
                </a:lnTo>
                <a:lnTo>
                  <a:pt x="0" y="1664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93357" y="996517"/>
            <a:ext cx="665943" cy="166486"/>
          </a:xfrm>
          <a:custGeom>
            <a:avLst/>
            <a:gdLst/>
            <a:ahLst/>
            <a:cxnLst/>
            <a:rect l="l" t="t" r="r" b="b"/>
            <a:pathLst>
              <a:path w="665943" h="166486">
                <a:moveTo>
                  <a:pt x="0" y="0"/>
                </a:moveTo>
                <a:lnTo>
                  <a:pt x="665943" y="0"/>
                </a:lnTo>
                <a:lnTo>
                  <a:pt x="665943" y="166486"/>
                </a:lnTo>
                <a:lnTo>
                  <a:pt x="0" y="166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9856448" y="4126122"/>
            <a:ext cx="7024991" cy="7024991"/>
          </a:xfrm>
          <a:custGeom>
            <a:avLst/>
            <a:gdLst/>
            <a:ahLst/>
            <a:cxnLst/>
            <a:rect l="l" t="t" r="r" b="b"/>
            <a:pathLst>
              <a:path w="7024991" h="7024991">
                <a:moveTo>
                  <a:pt x="0" y="0"/>
                </a:moveTo>
                <a:lnTo>
                  <a:pt x="7024991" y="0"/>
                </a:lnTo>
                <a:lnTo>
                  <a:pt x="7024991" y="7024991"/>
                </a:lnTo>
                <a:lnTo>
                  <a:pt x="0" y="7024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099795" y="1047926"/>
            <a:ext cx="8533740" cy="8224392"/>
          </a:xfrm>
          <a:custGeom>
            <a:avLst/>
            <a:gdLst/>
            <a:ahLst/>
            <a:cxnLst/>
            <a:rect l="l" t="t" r="r" b="b"/>
            <a:pathLst>
              <a:path w="8533740" h="8224392">
                <a:moveTo>
                  <a:pt x="0" y="0"/>
                </a:moveTo>
                <a:lnTo>
                  <a:pt x="8533741" y="0"/>
                </a:lnTo>
                <a:lnTo>
                  <a:pt x="8533741" y="8224393"/>
                </a:lnTo>
                <a:lnTo>
                  <a:pt x="0" y="82243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62025"/>
            <a:ext cx="3174807" cy="530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8"/>
              </a:lnSpc>
              <a:spcBef>
                <a:spcPct val="0"/>
              </a:spcBef>
            </a:pPr>
            <a:r>
              <a:rPr lang="en-US" sz="3098" spc="-30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IntelliNews AI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422296"/>
            <a:ext cx="4307406" cy="1243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3"/>
              </a:lnSpc>
            </a:pPr>
            <a:r>
              <a:rPr lang="en-US" sz="5385" b="1" spc="-161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OUR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2326" y="4366949"/>
            <a:ext cx="6862362" cy="410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650" lvl="1" indent="-291325" algn="l">
              <a:lnSpc>
                <a:spcPts val="3778"/>
              </a:lnSpc>
              <a:buFont typeface="Arial"/>
              <a:buChar char="•"/>
            </a:pPr>
            <a:r>
              <a:rPr lang="en-US" sz="2698" b="1" spc="-26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ASI-1 AI analyzes news content deeply using advanced natural language processing</a:t>
            </a:r>
          </a:p>
          <a:p>
            <a:pPr marL="582650" lvl="1" indent="-291325" algn="l">
              <a:lnSpc>
                <a:spcPts val="3778"/>
              </a:lnSpc>
              <a:spcBef>
                <a:spcPct val="0"/>
              </a:spcBef>
              <a:buFont typeface="Arial"/>
              <a:buChar char="•"/>
            </a:pPr>
            <a:r>
              <a:rPr lang="en-US" sz="2698" b="1" spc="-26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Generates a trust score for each article based on source credibility and content analysis</a:t>
            </a:r>
          </a:p>
          <a:p>
            <a:pPr marL="582650" lvl="1" indent="-291325" algn="l">
              <a:lnSpc>
                <a:spcPts val="3778"/>
              </a:lnSpc>
              <a:spcBef>
                <a:spcPct val="0"/>
              </a:spcBef>
              <a:buFont typeface="Arial"/>
              <a:buChar char="•"/>
            </a:pPr>
            <a:r>
              <a:rPr lang="en-US" sz="2698" b="1" spc="-26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Classifies news into True, Suspicious, or Fake categories with high accuracy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7973262" y="1028700"/>
            <a:ext cx="0" cy="8229600"/>
          </a:xfrm>
          <a:prstGeom prst="line">
            <a:avLst/>
          </a:prstGeom>
          <a:ln w="9525" cap="flat">
            <a:solidFill>
              <a:srgbClr val="C4E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 rot="5400000">
            <a:off x="7422610" y="1143624"/>
            <a:ext cx="7024991" cy="3582211"/>
          </a:xfrm>
          <a:custGeom>
            <a:avLst/>
            <a:gdLst/>
            <a:ahLst/>
            <a:cxnLst/>
            <a:rect l="l" t="t" r="r" b="b"/>
            <a:pathLst>
              <a:path w="7024991" h="3582211">
                <a:moveTo>
                  <a:pt x="0" y="0"/>
                </a:moveTo>
                <a:lnTo>
                  <a:pt x="7024991" y="0"/>
                </a:lnTo>
                <a:lnTo>
                  <a:pt x="7024991" y="3582211"/>
                </a:lnTo>
                <a:lnTo>
                  <a:pt x="0" y="35822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b="-96107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1034274" y="4582888"/>
            <a:ext cx="8418995" cy="4293046"/>
          </a:xfrm>
          <a:custGeom>
            <a:avLst/>
            <a:gdLst/>
            <a:ahLst/>
            <a:cxnLst/>
            <a:rect l="l" t="t" r="r" b="b"/>
            <a:pathLst>
              <a:path w="8418995" h="4293046">
                <a:moveTo>
                  <a:pt x="0" y="0"/>
                </a:moveTo>
                <a:lnTo>
                  <a:pt x="8418995" y="0"/>
                </a:lnTo>
                <a:lnTo>
                  <a:pt x="8418995" y="4293047"/>
                </a:lnTo>
                <a:lnTo>
                  <a:pt x="0" y="4293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96107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787979" y="1047762"/>
            <a:ext cx="8418995" cy="4293046"/>
          </a:xfrm>
          <a:custGeom>
            <a:avLst/>
            <a:gdLst/>
            <a:ahLst/>
            <a:cxnLst/>
            <a:rect l="l" t="t" r="r" b="b"/>
            <a:pathLst>
              <a:path w="8418995" h="4293046">
                <a:moveTo>
                  <a:pt x="0" y="0"/>
                </a:moveTo>
                <a:lnTo>
                  <a:pt x="8418995" y="0"/>
                </a:lnTo>
                <a:lnTo>
                  <a:pt x="8418995" y="4293046"/>
                </a:lnTo>
                <a:lnTo>
                  <a:pt x="0" y="42930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96107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563946" y="1347432"/>
            <a:ext cx="9022164" cy="6033572"/>
          </a:xfrm>
          <a:custGeom>
            <a:avLst/>
            <a:gdLst/>
            <a:ahLst/>
            <a:cxnLst/>
            <a:rect l="l" t="t" r="r" b="b"/>
            <a:pathLst>
              <a:path w="9022164" h="6033572">
                <a:moveTo>
                  <a:pt x="0" y="0"/>
                </a:moveTo>
                <a:lnTo>
                  <a:pt x="9022164" y="0"/>
                </a:lnTo>
                <a:lnTo>
                  <a:pt x="9022164" y="6033572"/>
                </a:lnTo>
                <a:lnTo>
                  <a:pt x="0" y="6033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62025"/>
            <a:ext cx="2743084" cy="54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8"/>
              </a:lnSpc>
              <a:spcBef>
                <a:spcPct val="0"/>
              </a:spcBef>
            </a:pPr>
            <a:r>
              <a:rPr lang="en-US" sz="3198" spc="-31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IntelliNews AI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289226"/>
            <a:ext cx="8115300" cy="70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7"/>
              </a:lnSpc>
            </a:pPr>
            <a:r>
              <a:rPr lang="en-US" sz="5536" b="1" spc="-166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SYSTEM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505950" y="1028700"/>
            <a:ext cx="8359594" cy="8321136"/>
            <a:chOff x="0" y="0"/>
            <a:chExt cx="11146125" cy="11094847"/>
          </a:xfrm>
        </p:grpSpPr>
        <p:sp>
          <p:nvSpPr>
            <p:cNvPr id="8" name="TextBox 8"/>
            <p:cNvSpPr txBox="1"/>
            <p:nvPr/>
          </p:nvSpPr>
          <p:spPr>
            <a:xfrm>
              <a:off x="2869680" y="-57150"/>
              <a:ext cx="8276445" cy="29559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2"/>
                </a:lnSpc>
                <a:spcBef>
                  <a:spcPct val="0"/>
                </a:spcBef>
              </a:pPr>
              <a:r>
                <a:rPr lang="en-US" sz="2530" spc="-25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User Input → ASI-1 Analysis</a:t>
              </a:r>
            </a:p>
            <a:p>
              <a:pPr marL="0" lvl="0" indent="0" algn="l">
                <a:lnSpc>
                  <a:spcPts val="3542"/>
                </a:lnSpc>
                <a:spcBef>
                  <a:spcPct val="0"/>
                </a:spcBef>
              </a:pPr>
              <a:r>
                <a:rPr lang="en-US" sz="2530" spc="-25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News articles and URLs are submitted to the system. ASI-1 AI performs deep content analysis, examining language patterns, source credibility, and factual consistency.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69680" y="3739309"/>
              <a:ext cx="8276445" cy="29559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2"/>
                </a:lnSpc>
                <a:spcBef>
                  <a:spcPct val="0"/>
                </a:spcBef>
              </a:pPr>
              <a:r>
                <a:rPr lang="en-US" sz="2530" spc="-25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Trust Score → Classification</a:t>
              </a:r>
            </a:p>
            <a:p>
              <a:pPr marL="0" lvl="0" indent="0" algn="l">
                <a:lnSpc>
                  <a:spcPts val="3542"/>
                </a:lnSpc>
                <a:spcBef>
                  <a:spcPct val="0"/>
                </a:spcBef>
              </a:pPr>
              <a:r>
                <a:rPr lang="en-US" sz="2530" spc="-25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ASI-1 generates a confidence-based trust score for each article. Content is automatically classified into True, Suspicious, or Fake categories based on analysis results.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69680" y="7541992"/>
              <a:ext cx="8276445" cy="3552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2"/>
                </a:lnSpc>
                <a:spcBef>
                  <a:spcPct val="0"/>
                </a:spcBef>
              </a:pPr>
              <a:r>
                <a:rPr lang="en-US" sz="2530" spc="-25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Data Storage → Verified News Queue → Output Feed</a:t>
              </a:r>
            </a:p>
            <a:p>
              <a:pPr marL="0" lvl="0" indent="0" algn="l">
                <a:lnSpc>
                  <a:spcPts val="3542"/>
                </a:lnSpc>
                <a:spcBef>
                  <a:spcPct val="0"/>
                </a:spcBef>
              </a:pPr>
              <a:r>
                <a:rPr lang="en-US" sz="2530" spc="-25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Classified articles are stored in the database. Verified content enters the trusted news queue and is delivered to users through the clean output feed.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414137" cy="6191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4"/>
                </a:lnSpc>
                <a:spcBef>
                  <a:spcPct val="0"/>
                </a:spcBef>
              </a:pPr>
              <a:r>
                <a:rPr lang="en-US" sz="2531" b="1" spc="-25">
                  <a:solidFill>
                    <a:srgbClr val="C4EC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Step 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3207828"/>
              <a:ext cx="2414137" cy="6191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4"/>
                </a:lnSpc>
                <a:spcBef>
                  <a:spcPct val="0"/>
                </a:spcBef>
              </a:pPr>
              <a:r>
                <a:rPr lang="en-US" sz="2531" b="1" spc="-25">
                  <a:solidFill>
                    <a:srgbClr val="C4EC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Step 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7264514"/>
              <a:ext cx="2414137" cy="6191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4"/>
                </a:lnSpc>
                <a:spcBef>
                  <a:spcPct val="0"/>
                </a:spcBef>
              </a:pPr>
              <a:r>
                <a:rPr lang="en-US" sz="2531" b="1" spc="-25">
                  <a:solidFill>
                    <a:srgbClr val="C4EC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Step 03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5060257"/>
            <a:ext cx="665943" cy="166486"/>
          </a:xfrm>
          <a:custGeom>
            <a:avLst/>
            <a:gdLst/>
            <a:ahLst/>
            <a:cxnLst/>
            <a:rect l="l" t="t" r="r" b="b"/>
            <a:pathLst>
              <a:path w="665943" h="166486">
                <a:moveTo>
                  <a:pt x="0" y="0"/>
                </a:moveTo>
                <a:lnTo>
                  <a:pt x="665943" y="0"/>
                </a:lnTo>
                <a:lnTo>
                  <a:pt x="665943" y="166486"/>
                </a:lnTo>
                <a:lnTo>
                  <a:pt x="0" y="1664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804905" y="-616941"/>
            <a:ext cx="7024991" cy="7024991"/>
          </a:xfrm>
          <a:custGeom>
            <a:avLst/>
            <a:gdLst/>
            <a:ahLst/>
            <a:cxnLst/>
            <a:rect l="l" t="t" r="r" b="b"/>
            <a:pathLst>
              <a:path w="7024991" h="7024991">
                <a:moveTo>
                  <a:pt x="0" y="0"/>
                </a:moveTo>
                <a:lnTo>
                  <a:pt x="7024992" y="0"/>
                </a:lnTo>
                <a:lnTo>
                  <a:pt x="7024992" y="7024991"/>
                </a:lnTo>
                <a:lnTo>
                  <a:pt x="0" y="7024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95526" y="276534"/>
            <a:ext cx="6559981" cy="6835466"/>
          </a:xfrm>
          <a:custGeom>
            <a:avLst/>
            <a:gdLst/>
            <a:ahLst/>
            <a:cxnLst/>
            <a:rect l="l" t="t" r="r" b="b"/>
            <a:pathLst>
              <a:path w="6559981" h="6835466">
                <a:moveTo>
                  <a:pt x="0" y="0"/>
                </a:moveTo>
                <a:lnTo>
                  <a:pt x="6559981" y="0"/>
                </a:lnTo>
                <a:lnTo>
                  <a:pt x="6559981" y="6835466"/>
                </a:lnTo>
                <a:lnTo>
                  <a:pt x="0" y="6835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962025"/>
            <a:ext cx="3144350" cy="54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8"/>
              </a:lnSpc>
              <a:spcBef>
                <a:spcPct val="0"/>
              </a:spcBef>
            </a:pPr>
            <a:r>
              <a:rPr lang="en-US" sz="3198" spc="-31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IntelliNews AI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34697" y="942975"/>
            <a:ext cx="6573258" cy="757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8"/>
              </a:lnSpc>
            </a:pPr>
            <a:r>
              <a:rPr lang="en-US" sz="3998" b="1" spc="-39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</a:t>
            </a:r>
          </a:p>
          <a:p>
            <a:pPr marL="0" lvl="0" indent="0" algn="l">
              <a:lnSpc>
                <a:spcPts val="4198"/>
              </a:lnSpc>
            </a:pPr>
            <a:r>
              <a:rPr lang="en-US" sz="2998" b="1" spc="-29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Significantly reduces misinformation spread</a:t>
            </a:r>
          </a:p>
          <a:p>
            <a:pPr marL="0" lvl="0" indent="0" algn="l">
              <a:lnSpc>
                <a:spcPts val="4198"/>
              </a:lnSpc>
            </a:pPr>
            <a:r>
              <a:rPr lang="en-US" sz="2998" b="1" spc="-29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Delivers reliable, verified news to users</a:t>
            </a:r>
          </a:p>
          <a:p>
            <a:pPr marL="0" lvl="0" indent="0" algn="l">
              <a:lnSpc>
                <a:spcPts val="4198"/>
              </a:lnSpc>
            </a:pPr>
            <a:r>
              <a:rPr lang="en-US" sz="2998" b="1" spc="-29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Enhances public awareness and trust</a:t>
            </a:r>
          </a:p>
          <a:p>
            <a:pPr marL="0" lvl="0" indent="0" algn="l">
              <a:lnSpc>
                <a:spcPts val="4198"/>
              </a:lnSpc>
            </a:pPr>
            <a:r>
              <a:rPr lang="en-US" sz="2998" b="1" spc="-29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Future Scope</a:t>
            </a:r>
          </a:p>
          <a:p>
            <a:pPr marL="0" lvl="0" indent="0" algn="l">
              <a:lnSpc>
                <a:spcPts val="4198"/>
              </a:lnSpc>
            </a:pPr>
            <a:r>
              <a:rPr lang="en-US" sz="2998" b="1" spc="-29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Real-time news APIs integration</a:t>
            </a:r>
          </a:p>
          <a:p>
            <a:pPr marL="0" lvl="0" indent="0" algn="l">
              <a:lnSpc>
                <a:spcPts val="4198"/>
              </a:lnSpc>
            </a:pPr>
            <a:r>
              <a:rPr lang="en-US" sz="2998" b="1" spc="-29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Personalized feeds based on user preferences</a:t>
            </a:r>
          </a:p>
          <a:p>
            <a:pPr marL="0" lvl="0" indent="0" algn="l">
              <a:lnSpc>
                <a:spcPts val="4198"/>
              </a:lnSpc>
            </a:pPr>
            <a:r>
              <a:rPr lang="en-US" sz="2998" b="1" spc="-29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Mobile and web applications for accessibility</a:t>
            </a:r>
          </a:p>
        </p:txBody>
      </p:sp>
      <p:sp>
        <p:nvSpPr>
          <p:cNvPr id="6" name="Freeform 6"/>
          <p:cNvSpPr/>
          <p:nvPr/>
        </p:nvSpPr>
        <p:spPr>
          <a:xfrm>
            <a:off x="9144000" y="9258300"/>
            <a:ext cx="665943" cy="166486"/>
          </a:xfrm>
          <a:custGeom>
            <a:avLst/>
            <a:gdLst/>
            <a:ahLst/>
            <a:cxnLst/>
            <a:rect l="l" t="t" r="r" b="b"/>
            <a:pathLst>
              <a:path w="665943" h="166486">
                <a:moveTo>
                  <a:pt x="0" y="0"/>
                </a:moveTo>
                <a:lnTo>
                  <a:pt x="665943" y="0"/>
                </a:lnTo>
                <a:lnTo>
                  <a:pt x="665943" y="166486"/>
                </a:lnTo>
                <a:lnTo>
                  <a:pt x="0" y="166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6085067" y="5872718"/>
            <a:ext cx="6284859" cy="3204799"/>
          </a:xfrm>
          <a:custGeom>
            <a:avLst/>
            <a:gdLst/>
            <a:ahLst/>
            <a:cxnLst/>
            <a:rect l="l" t="t" r="r" b="b"/>
            <a:pathLst>
              <a:path w="6284859" h="3204799">
                <a:moveTo>
                  <a:pt x="0" y="0"/>
                </a:moveTo>
                <a:lnTo>
                  <a:pt x="6284859" y="0"/>
                </a:lnTo>
                <a:lnTo>
                  <a:pt x="6284859" y="3204800"/>
                </a:lnTo>
                <a:lnTo>
                  <a:pt x="0" y="320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b="-9610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7551039"/>
            <a:ext cx="6288701" cy="157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8"/>
              </a:lnSpc>
            </a:pPr>
            <a:r>
              <a:rPr lang="en-US" sz="6629" b="1" spc="-198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 &amp; FUTURE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Custom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Helvetica World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IntelliNews AI: Verified News Delivery</dc:title>
  <cp:lastModifiedBy>MI</cp:lastModifiedBy>
  <cp:revision>2</cp:revision>
  <dcterms:created xsi:type="dcterms:W3CDTF">2006-08-16T00:00:00Z</dcterms:created>
  <dcterms:modified xsi:type="dcterms:W3CDTF">2026-05-26T06:28:53Z</dcterms:modified>
  <dc:identifier>DAHGpZBdXs0</dc:identifier>
</cp:coreProperties>
</file>